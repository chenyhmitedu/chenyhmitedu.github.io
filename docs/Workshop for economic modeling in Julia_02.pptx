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352" r:id="rId3"/>
    <p:sldId id="354" r:id="rId4"/>
    <p:sldId id="348" r:id="rId5"/>
    <p:sldId id="355" r:id="rId6"/>
    <p:sldId id="356" r:id="rId7"/>
    <p:sldId id="358" r:id="rId8"/>
    <p:sldId id="344" r:id="rId9"/>
    <p:sldId id="359" r:id="rId10"/>
    <p:sldId id="360" r:id="rId11"/>
    <p:sldId id="361" r:id="rId12"/>
    <p:sldId id="362" r:id="rId13"/>
    <p:sldId id="363" r:id="rId14"/>
    <p:sldId id="34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E8E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89728" autoAdjust="0"/>
  </p:normalViewPr>
  <p:slideViewPr>
    <p:cSldViewPr snapToGrid="0">
      <p:cViewPr varScale="1">
        <p:scale>
          <a:sx n="102" d="100"/>
          <a:sy n="102" d="100"/>
        </p:scale>
        <p:origin x="3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8C2BE-5ABB-4E2C-84AC-0E4624393A0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9E8AD2-A851-40CC-AF2D-0E06978AC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9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E8AD2-A851-40CC-AF2D-0E06978ACF7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69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03003-CA78-4796-9315-F2C8B6EA0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55AC2-C3FD-4C6F-AE46-1602FFBDD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5D3864-039F-4F23-B728-687D46284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F57FE-B44C-4225-AEFC-6B350D948DC6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20CE1-427D-46D2-B015-0D03AADB8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9B10C-FBB2-4F6C-9F55-106949B70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91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09F1E-CDD5-4FB2-801A-76BA04C2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86A35-9F9A-44D2-AE97-63AD58B51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4616B-F69A-464F-B2AC-BFBCE4F8D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BF043-45A9-4C09-A4FD-B1406CB520A3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5A621-ED55-48E2-85CC-3C8671F9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A751B-3888-4973-B56A-7EE9B8BB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67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1FA34-E51B-4091-A3BF-EA2FBC83C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9AD13-F433-40ED-8569-0C1B33253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D9C9A-805B-474E-85DA-4CCF10909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43E54-8674-41BB-A2A6-AF48877F105D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37144-F08C-4D02-A9E7-042A41A6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02F2C-7814-4B80-8584-76A5C7952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376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D6837-FBEE-4191-8C32-2977159B2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2EB7B-62BD-4057-B6C8-21796DC1B4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85FACB-8609-42DB-8A9A-922209A39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F69C0-52B7-42BF-BEA4-DD14370C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B81A4-8F31-4352-85E7-6748F1D079F5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C391D-ACBC-44B8-A2CE-CECE6A9AC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60FD28-53C3-4502-8F5B-552D20C7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147EC-B35D-45F4-8CFF-13F527D41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D6AD5-3A1F-49B6-AED9-F77805838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881EC-93E7-48C7-8BB5-C0E128E95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D44F31-BBD8-40AE-AAF8-A1567D8CB4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F6150C-EC71-43AE-9E21-216749E9F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266FB0-2200-4A38-A36D-0387D8472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A91CE-8ADF-4697-90BF-DA13B774EE44}" type="datetime1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37746-EF20-45BE-8F13-26DA087C9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F62480-90D8-471F-8854-F657ED897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64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1C017-3836-496A-BB69-E861D89D2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C5B080-0781-40E9-AE64-C14F00563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1A1B8-3294-4A51-9898-B0A61929C536}" type="datetime1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5B596D-9C28-4326-98AA-23004B097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9661D0-4827-4297-A764-9D35FE91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97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4BC797-DBE5-4DF8-9BE7-806BDF39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D1EEF-0DA3-4AC7-BE11-96A36499B3F2}" type="datetime1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9F9893-CEC9-4186-90EE-C535449B1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1BC7C-89E6-45BC-B000-A0D578C4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03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9E431-55B9-4FB5-A28E-AD68315F6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5D6E-6E1E-4FA8-A4FC-FAF1A3A01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BF68D-1F14-4BA6-801D-C59895C5F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530D9-B66F-4725-9F6B-B86D4F19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2D66-067F-4384-9E45-1AB2202D400A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F7EE9-057C-4CE3-B965-1E5B2421A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D9658-D0D4-4E49-9A85-331C83A7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25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A5E83-41AB-47EB-B31E-A6E18B740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6C3A6D-7860-4087-9923-36646CDDD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A8ED2-5E62-472C-B8ED-A550EB6E4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ABB01-7691-46BE-978C-894F82357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9F04E-C800-4AC3-8512-B861BF7A1118}" type="datetime1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B1F7E-0FEB-4AA6-B1BB-510E64A1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3608C-7009-4803-8FA6-A4B4D0183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88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6279-4559-484B-A651-987028E2D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1C3A2E-7899-49BE-BEA7-350959CDC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B7427-67E9-48AF-967B-FFA0794D5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68FF8-E022-41DD-8E8D-11C8587B87BA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7B1EE-5AAF-4622-BACB-FA4BC3ADE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D1D27-5CF4-4B5E-A19C-BD329B7E4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67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0B4FC2-3510-426A-94B6-7D6AFA99F0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BCB05-EA7C-4A97-8774-7360AE03C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6F2BB-732E-4268-94E6-08178CA06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DD116-52B0-4FCA-8AA5-338BCF364F70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E921F-67C4-4C20-8780-9028B5A65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E699F-C6A7-4E75-B5E5-88DE93857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A810EB-C0C7-4A35-A769-81B7E6CB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D9378-63AA-4F13-9ABC-0379F0609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DB08C-55BA-45B6-BF2E-2C5EC31B5C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BE7FC-B9C3-41D6-B3DA-420349E1CF74}" type="datetime1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4AAA7-73A9-4F40-A4FA-4A90A4262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ACFAA-3982-4797-B77E-02F318D9F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94093-91B4-4582-87A4-55E3237A3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16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5" Type="http://schemas.openxmlformats.org/officeDocument/2006/relationships/image" Target="../media/image2.png"/><Relationship Id="rId10" Type="http://schemas.openxmlformats.org/officeDocument/2006/relationships/image" Target="../media/image11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henyhmitedu.github.io/docs/M21_mcp.j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henyhmitedu.github.io/docs/M21.jl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psge.org/tutorial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wnloads.regulations.gov/EPA-HQ-OAR-2022-0730-0088/attachment_58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A7BD8-8BE4-4C42-B662-85B1AB88AD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Workshop for Economic Modeling in Julia</a:t>
            </a:r>
            <a:br>
              <a:rPr lang="en-US" sz="3200" b="1" dirty="0"/>
            </a:br>
            <a:br>
              <a:rPr lang="en-US" sz="3200" dirty="0"/>
            </a:b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11740-3A1A-485A-8669-0000FE92A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77495"/>
            <a:ext cx="9144000" cy="1655762"/>
          </a:xfrm>
        </p:spPr>
        <p:txBody>
          <a:bodyPr>
            <a:noAutofit/>
          </a:bodyPr>
          <a:lstStyle/>
          <a:p>
            <a:endParaRPr lang="en-US" dirty="0"/>
          </a:p>
          <a:p>
            <a:r>
              <a:rPr lang="en-US" dirty="0"/>
              <a:t>Y.-H. Henry Chen</a:t>
            </a:r>
          </a:p>
          <a:p>
            <a:r>
              <a:rPr lang="en-US" dirty="0"/>
              <a:t>Research Scientist, MIT CS3</a:t>
            </a:r>
          </a:p>
          <a:p>
            <a:endParaRPr lang="en-US" dirty="0"/>
          </a:p>
          <a:p>
            <a:r>
              <a:rPr lang="en-US" dirty="0"/>
              <a:t>Feb 3, 2026</a:t>
            </a:r>
          </a:p>
          <a:p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B6BEFD-7CD9-49F1-9DCF-AEB6946C96B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74" y="6365318"/>
            <a:ext cx="1800000" cy="35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83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603C-36DF-4CB6-84E2-18D108E2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78726-162F-4D50-8A1E-662DAD4F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2E0C98C-C59A-4083-AD7B-E6DB1B0B0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Constant elasticity of substitution (CES) function</a:t>
            </a:r>
            <a:endParaRPr lang="en-US" sz="1800" dirty="0"/>
          </a:p>
          <a:p>
            <a:pPr lvl="1"/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905CB06-E30A-4F29-AC07-29135D2259E8}"/>
                  </a:ext>
                </a:extLst>
              </p:cNvPr>
              <p:cNvSpPr/>
              <p:nvPr/>
            </p:nvSpPr>
            <p:spPr>
              <a:xfrm>
                <a:off x="2216476" y="3667540"/>
                <a:ext cx="2625078" cy="8892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≡[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  <m:f>
                        <m:fPr>
                          <m:type m:val="li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[</m:t>
                          </m:r>
                        </m:den>
                      </m:f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sz="1400" i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905CB06-E30A-4F29-AC07-29135D2259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476" y="3667540"/>
                <a:ext cx="2625078" cy="8892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CF24C02B-BE3B-4C54-A4F0-ABB436C3D984}"/>
              </a:ext>
            </a:extLst>
          </p:cNvPr>
          <p:cNvGrpSpPr/>
          <p:nvPr/>
        </p:nvGrpSpPr>
        <p:grpSpPr>
          <a:xfrm>
            <a:off x="2487936" y="2480654"/>
            <a:ext cx="3098302" cy="1267519"/>
            <a:chOff x="1683189" y="3073258"/>
            <a:chExt cx="3098302" cy="126751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B6A02D7-5319-4D6A-B4BF-020E12A786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6408" y="3429001"/>
              <a:ext cx="1062718" cy="5722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DBB4E86-E778-4365-8950-30A1E1C507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9126" y="3425036"/>
              <a:ext cx="1025950" cy="5792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353B4B-F601-417B-9256-DC13F1D970AD}"/>
                </a:ext>
              </a:extLst>
            </p:cNvPr>
            <p:cNvSpPr txBox="1"/>
            <p:nvPr/>
          </p:nvSpPr>
          <p:spPr>
            <a:xfrm>
              <a:off x="1683189" y="4002223"/>
              <a:ext cx="7258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L: 25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F987654-D112-449D-85F7-72000A2CE3CD}"/>
                </a:ext>
              </a:extLst>
            </p:cNvPr>
            <p:cNvSpPr txBox="1"/>
            <p:nvPr/>
          </p:nvSpPr>
          <p:spPr>
            <a:xfrm>
              <a:off x="4055627" y="4002223"/>
              <a:ext cx="7258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K: 75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E8B32F7-4E1D-4DB3-896F-66B614B3F62A}"/>
                </a:ext>
              </a:extLst>
            </p:cNvPr>
            <p:cNvSpPr txBox="1"/>
            <p:nvPr/>
          </p:nvSpPr>
          <p:spPr>
            <a:xfrm>
              <a:off x="2919419" y="3073258"/>
              <a:ext cx="7258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X: 100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9906508E-ECCE-4862-BF1B-36FB84E0CEC6}"/>
                </a:ext>
              </a:extLst>
            </p:cNvPr>
            <p:cNvSpPr/>
            <p:nvPr/>
          </p:nvSpPr>
          <p:spPr>
            <a:xfrm>
              <a:off x="2863124" y="3144633"/>
              <a:ext cx="552004" cy="564771"/>
            </a:xfrm>
            <a:prstGeom prst="arc">
              <a:avLst>
                <a:gd name="adj1" fmla="val 21362137"/>
                <a:gd name="adj2" fmla="val 11134629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2FAD55F-7108-46DC-B92A-0EB3E8A1B6DE}"/>
                    </a:ext>
                  </a:extLst>
                </p:cNvPr>
                <p:cNvSpPr txBox="1"/>
                <p:nvPr/>
              </p:nvSpPr>
              <p:spPr>
                <a:xfrm>
                  <a:off x="2806481" y="3643341"/>
                  <a:ext cx="7258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2FAD55F-7108-46DC-B92A-0EB3E8A1B6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6481" y="3643341"/>
                  <a:ext cx="725864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61DD6B2-17CD-4A5D-8742-2F650914DCE2}"/>
              </a:ext>
            </a:extLst>
          </p:cNvPr>
          <p:cNvGrpSpPr/>
          <p:nvPr/>
        </p:nvGrpSpPr>
        <p:grpSpPr>
          <a:xfrm>
            <a:off x="6345562" y="843907"/>
            <a:ext cx="4052339" cy="4157258"/>
            <a:chOff x="6362196" y="1306857"/>
            <a:chExt cx="3401792" cy="3555937"/>
          </a:xfrm>
        </p:grpSpPr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A3DEDB45-B5A4-4CB5-9145-31E400F91B13}"/>
                </a:ext>
              </a:extLst>
            </p:cNvPr>
            <p:cNvSpPr/>
            <p:nvPr/>
          </p:nvSpPr>
          <p:spPr>
            <a:xfrm>
              <a:off x="6755710" y="1306857"/>
              <a:ext cx="3008278" cy="2714578"/>
            </a:xfrm>
            <a:prstGeom prst="arc">
              <a:avLst>
                <a:gd name="adj1" fmla="val 6270468"/>
                <a:gd name="adj2" fmla="val 10073206"/>
              </a:avLst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D5342408-B7DB-494D-9845-EAF0426CE9AA}"/>
                </a:ext>
              </a:extLst>
            </p:cNvPr>
            <p:cNvSpPr/>
            <p:nvPr/>
          </p:nvSpPr>
          <p:spPr>
            <a:xfrm>
              <a:off x="6941366" y="2472946"/>
              <a:ext cx="1478448" cy="1289975"/>
            </a:xfrm>
            <a:prstGeom prst="arc">
              <a:avLst>
                <a:gd name="adj1" fmla="val 5975905"/>
                <a:gd name="adj2" fmla="val 10545755"/>
              </a:avLst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390FF2D-B423-4B22-BF5D-1386116E1ED0}"/>
                </a:ext>
              </a:extLst>
            </p:cNvPr>
            <p:cNvGrpSpPr/>
            <p:nvPr/>
          </p:nvGrpSpPr>
          <p:grpSpPr>
            <a:xfrm>
              <a:off x="6362196" y="2706859"/>
              <a:ext cx="2794606" cy="2155935"/>
              <a:chOff x="6362196" y="2706859"/>
              <a:chExt cx="2794606" cy="2155935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BC7F941B-88B6-4469-AF73-423FE5235F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40165" y="2771480"/>
                <a:ext cx="0" cy="17722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87B23DED-0798-4310-B9FD-0B0960B6C0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40165" y="4543719"/>
                <a:ext cx="2091179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1A970466-B7F8-483A-800F-43764F2BE058}"/>
                  </a:ext>
                </a:extLst>
              </p:cNvPr>
              <p:cNvCxnSpPr/>
              <p:nvPr/>
            </p:nvCxnSpPr>
            <p:spPr>
              <a:xfrm>
                <a:off x="7126664" y="3572759"/>
                <a:ext cx="0" cy="97096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BC64AED-FD02-4BE4-8826-35DB98A906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04029" y="3571457"/>
                <a:ext cx="422635" cy="2602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6106CE7-EC52-4D47-BC36-F8816B5E9791}"/>
                  </a:ext>
                </a:extLst>
              </p:cNvPr>
              <p:cNvSpPr txBox="1"/>
              <p:nvPr/>
            </p:nvSpPr>
            <p:spPr>
              <a:xfrm>
                <a:off x="6941366" y="4509379"/>
                <a:ext cx="6861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25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06E161D-3CD9-4495-8756-A5A5729CFFEE}"/>
                  </a:ext>
                </a:extLst>
              </p:cNvPr>
              <p:cNvSpPr txBox="1"/>
              <p:nvPr/>
            </p:nvSpPr>
            <p:spPr>
              <a:xfrm>
                <a:off x="6362196" y="3400309"/>
                <a:ext cx="6861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75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7EA5A12-7AE8-4710-8150-A2D2B2080C34}"/>
                  </a:ext>
                </a:extLst>
              </p:cNvPr>
              <p:cNvSpPr txBox="1"/>
              <p:nvPr/>
            </p:nvSpPr>
            <p:spPr>
              <a:xfrm>
                <a:off x="8646087" y="4524240"/>
                <a:ext cx="5107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L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9740FA6-E615-4CED-B280-B41090A06E5D}"/>
                  </a:ext>
                </a:extLst>
              </p:cNvPr>
              <p:cNvSpPr txBox="1"/>
              <p:nvPr/>
            </p:nvSpPr>
            <p:spPr>
              <a:xfrm>
                <a:off x="6430651" y="2706859"/>
                <a:ext cx="51071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K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40EB8EE-A772-44FA-A7D7-F7653D546E07}"/>
                  </a:ext>
                </a:extLst>
              </p:cNvPr>
              <p:cNvCxnSpPr/>
              <p:nvPr/>
            </p:nvCxnSpPr>
            <p:spPr>
              <a:xfrm>
                <a:off x="6843860" y="3308808"/>
                <a:ext cx="1102936" cy="1031969"/>
              </a:xfrm>
              <a:prstGeom prst="line">
                <a:avLst/>
              </a:prstGeom>
              <a:ln>
                <a:solidFill>
                  <a:srgbClr val="0000FF"/>
                </a:solidFill>
                <a:prstDash val="soli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BF7E297F-3A9B-4A02-AAF0-D67E7E9DC8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6664" y="3266060"/>
                <a:ext cx="4717" cy="294713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4C84039-2119-420A-90CC-A63CD4A66B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42207" y="3569587"/>
                <a:ext cx="284058" cy="0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B3A8EFB-963A-417A-902D-2BB0E45C299D}"/>
                  </a:ext>
                </a:extLst>
              </p:cNvPr>
              <p:cNvSpPr txBox="1"/>
              <p:nvPr/>
            </p:nvSpPr>
            <p:spPr>
              <a:xfrm>
                <a:off x="7588661" y="3318173"/>
                <a:ext cx="19141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X=100;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B3A8EFB-963A-417A-902D-2BB0E45C2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661" y="3318173"/>
                <a:ext cx="1914193" cy="338554"/>
              </a:xfrm>
              <a:prstGeom prst="rect">
                <a:avLst/>
              </a:prstGeom>
              <a:blipFill>
                <a:blip r:embed="rId4"/>
                <a:stretch>
                  <a:fillRect l="-1911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F927453-6F82-41B4-8B28-41832455A85D}"/>
                  </a:ext>
                </a:extLst>
              </p:cNvPr>
              <p:cNvSpPr txBox="1"/>
              <p:nvPr/>
            </p:nvSpPr>
            <p:spPr>
              <a:xfrm>
                <a:off x="7769678" y="3537427"/>
                <a:ext cx="19141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X=100;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F927453-6F82-41B4-8B28-41832455A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678" y="3537427"/>
                <a:ext cx="1914193" cy="338554"/>
              </a:xfrm>
              <a:prstGeom prst="rect">
                <a:avLst/>
              </a:prstGeom>
              <a:blipFill>
                <a:blip r:embed="rId5"/>
                <a:stretch>
                  <a:fillRect l="-1911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20EED52-F3FF-416B-B305-342C7975A0F9}"/>
                  </a:ext>
                </a:extLst>
              </p:cNvPr>
              <p:cNvSpPr txBox="1"/>
              <p:nvPr/>
            </p:nvSpPr>
            <p:spPr>
              <a:xfrm>
                <a:off x="8211154" y="3812753"/>
                <a:ext cx="19141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X=100;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20EED52-F3FF-416B-B305-342C7975A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1154" y="3812753"/>
                <a:ext cx="1914193" cy="338554"/>
              </a:xfrm>
              <a:prstGeom prst="rect">
                <a:avLst/>
              </a:prstGeom>
              <a:blipFill>
                <a:blip r:embed="rId6"/>
                <a:stretch>
                  <a:fillRect l="-1911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FDE721D-337B-4918-9690-8B8D3EBC1F86}"/>
                  </a:ext>
                </a:extLst>
              </p:cNvPr>
              <p:cNvSpPr txBox="1"/>
              <p:nvPr/>
            </p:nvSpPr>
            <p:spPr>
              <a:xfrm>
                <a:off x="8209479" y="4245337"/>
                <a:ext cx="19141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X=100;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FDE721D-337B-4918-9690-8B8D3EBC1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479" y="4245337"/>
                <a:ext cx="1914193" cy="338554"/>
              </a:xfrm>
              <a:prstGeom prst="rect">
                <a:avLst/>
              </a:prstGeom>
              <a:blipFill>
                <a:blip r:embed="rId7"/>
                <a:stretch>
                  <a:fillRect l="-1911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BB1A5459-2AB1-4002-B1BE-99E595562C81}"/>
              </a:ext>
            </a:extLst>
          </p:cNvPr>
          <p:cNvGrpSpPr/>
          <p:nvPr/>
        </p:nvGrpSpPr>
        <p:grpSpPr>
          <a:xfrm>
            <a:off x="2389119" y="4628133"/>
            <a:ext cx="4975980" cy="2054965"/>
            <a:chOff x="2389119" y="4628133"/>
            <a:chExt cx="4975980" cy="2054965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B60ABB8-2B25-437A-A92B-449731C747D7}"/>
                </a:ext>
              </a:extLst>
            </p:cNvPr>
            <p:cNvGrpSpPr/>
            <p:nvPr/>
          </p:nvGrpSpPr>
          <p:grpSpPr>
            <a:xfrm>
              <a:off x="2751613" y="5757691"/>
              <a:ext cx="3384591" cy="490647"/>
              <a:chOff x="2802974" y="5822562"/>
              <a:chExt cx="3384591" cy="490647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4B0BF7D7-9226-48E4-93F7-804203F560B4}"/>
                      </a:ext>
                    </a:extLst>
                  </p:cNvPr>
                  <p:cNvSpPr/>
                  <p:nvPr/>
                </p:nvSpPr>
                <p:spPr>
                  <a:xfrm>
                    <a:off x="2802974" y="5822562"/>
                    <a:ext cx="1285352" cy="49064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∏"/>
                              <m:limLoc m:val="subSup"/>
                              <m:supHide m:val="on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sup>
                              </m:sSubSup>
                            </m:e>
                          </m:nary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4B0BF7D7-9226-48E4-93F7-804203F560B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974" y="5822562"/>
                    <a:ext cx="1285352" cy="49064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5166" t="-156250" r="-69194" b="-22625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9A537747-172D-45B5-95C0-8D2DC45B97BD}"/>
                      </a:ext>
                    </a:extLst>
                  </p:cNvPr>
                  <p:cNvSpPr/>
                  <p:nvPr/>
                </p:nvSpPr>
                <p:spPr>
                  <a:xfrm>
                    <a:off x="5518856" y="5916670"/>
                    <a:ext cx="668709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9A537747-172D-45B5-95C0-8D2DC45B97B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18856" y="5916670"/>
                    <a:ext cx="668709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6A8559A3-22C6-4A7D-A799-7D3F83E371BB}"/>
                </a:ext>
              </a:extLst>
            </p:cNvPr>
            <p:cNvGrpSpPr/>
            <p:nvPr/>
          </p:nvGrpSpPr>
          <p:grpSpPr>
            <a:xfrm>
              <a:off x="2727120" y="6375320"/>
              <a:ext cx="3409083" cy="307778"/>
              <a:chOff x="2751613" y="6330565"/>
              <a:chExt cx="3409083" cy="30777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C48754D8-F6D7-41B3-BB8B-01DFB309732B}"/>
                      </a:ext>
                    </a:extLst>
                  </p:cNvPr>
                  <p:cNvSpPr/>
                  <p:nvPr/>
                </p:nvSpPr>
                <p:spPr>
                  <a:xfrm>
                    <a:off x="2751613" y="6330566"/>
                    <a:ext cx="2576090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 …,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C48754D8-F6D7-41B3-BB8B-01DFB309732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13" y="6330566"/>
                    <a:ext cx="2576090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8FABBC1E-7B1A-45A4-B897-986367311529}"/>
                      </a:ext>
                    </a:extLst>
                  </p:cNvPr>
                  <p:cNvSpPr/>
                  <p:nvPr/>
                </p:nvSpPr>
                <p:spPr>
                  <a:xfrm>
                    <a:off x="5491987" y="6330565"/>
                    <a:ext cx="668709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8FABBC1E-7B1A-45A4-B897-98636731152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91987" y="6330565"/>
                    <a:ext cx="668709" cy="3077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853CEB7-0615-4509-9438-9085E97AE946}"/>
                </a:ext>
              </a:extLst>
            </p:cNvPr>
            <p:cNvGrpSpPr/>
            <p:nvPr/>
          </p:nvGrpSpPr>
          <p:grpSpPr>
            <a:xfrm>
              <a:off x="2751613" y="5077517"/>
              <a:ext cx="4613486" cy="615297"/>
              <a:chOff x="2802974" y="5254482"/>
              <a:chExt cx="4613486" cy="615297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2BA389BE-6F13-46BD-8F2D-8F38A23CB7B9}"/>
                      </a:ext>
                    </a:extLst>
                  </p:cNvPr>
                  <p:cNvSpPr/>
                  <p:nvPr/>
                </p:nvSpPr>
                <p:spPr>
                  <a:xfrm>
                    <a:off x="2802974" y="5254482"/>
                    <a:ext cx="2473369" cy="6152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subSup"/>
                                      <m:supHide m:val="on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  <m:sup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sup>
                          </m:sSup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 ;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2BA389BE-6F13-46BD-8F2D-8F38A23CB7B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974" y="5254482"/>
                    <a:ext cx="2473369" cy="61529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6DF946A1-233A-4E05-9ED7-5CCC95ED2F2A}"/>
                      </a:ext>
                    </a:extLst>
                  </p:cNvPr>
                  <p:cNvSpPr/>
                  <p:nvPr/>
                </p:nvSpPr>
                <p:spPr>
                  <a:xfrm>
                    <a:off x="5540478" y="5465371"/>
                    <a:ext cx="1875982" cy="30777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&gt;0</m:t>
                        </m:r>
                      </m:oMath>
                    </a14:m>
                    <a:r>
                      <a:rPr lang="en-US" sz="1400" dirty="0"/>
                      <a:t>; </a:t>
                    </a:r>
                    <a14:m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≠1</m:t>
                        </m:r>
                      </m:oMath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6DF946A1-233A-4E05-9ED7-5CCC95ED2F2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40478" y="5465371"/>
                    <a:ext cx="1875982" cy="30777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t="-4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5790DB3-96F5-4034-8935-C0E626DDB6D0}"/>
                </a:ext>
              </a:extLst>
            </p:cNvPr>
            <p:cNvGrpSpPr/>
            <p:nvPr/>
          </p:nvGrpSpPr>
          <p:grpSpPr>
            <a:xfrm>
              <a:off x="2745800" y="4628133"/>
              <a:ext cx="3437076" cy="489493"/>
              <a:chOff x="2811643" y="4688363"/>
              <a:chExt cx="3437076" cy="48949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E00E9A1B-7EA1-4E07-8DE3-156337B9B84D}"/>
                      </a:ext>
                    </a:extLst>
                  </p:cNvPr>
                  <p:cNvSpPr/>
                  <p:nvPr/>
                </p:nvSpPr>
                <p:spPr>
                  <a:xfrm>
                    <a:off x="2811643" y="4688363"/>
                    <a:ext cx="1358834" cy="489493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nary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E00E9A1B-7EA1-4E07-8DE3-156337B9B84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11643" y="4688363"/>
                    <a:ext cx="1358834" cy="489493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4350" t="-154321" r="-49327" b="-2222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269F8AA1-878E-4738-9620-74DDF3BD77FB}"/>
                      </a:ext>
                    </a:extLst>
                  </p:cNvPr>
                  <p:cNvSpPr/>
                  <p:nvPr/>
                </p:nvSpPr>
                <p:spPr>
                  <a:xfrm>
                    <a:off x="5527111" y="4767856"/>
                    <a:ext cx="721608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=∞</m:t>
                          </m:r>
                        </m:oMath>
                      </m:oMathPara>
                    </a14:m>
                    <a:endParaRPr lang="en-US" sz="1400" b="0" dirty="0"/>
                  </a:p>
                </p:txBody>
              </p:sp>
            </mc:Choice>
            <mc:Fallback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269F8AA1-878E-4738-9620-74DDF3BD77F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27111" y="4767856"/>
                    <a:ext cx="721608" cy="30777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9" name="Left Brace 68">
              <a:extLst>
                <a:ext uri="{FF2B5EF4-FFF2-40B4-BE49-F238E27FC236}">
                  <a16:creationId xmlns:a16="http://schemas.microsoft.com/office/drawing/2014/main" id="{AB258718-C80A-4638-A07F-D860DC40A55A}"/>
                </a:ext>
              </a:extLst>
            </p:cNvPr>
            <p:cNvSpPr/>
            <p:nvPr/>
          </p:nvSpPr>
          <p:spPr>
            <a:xfrm>
              <a:off x="2389119" y="4707626"/>
              <a:ext cx="240959" cy="1975471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221BF980-D481-4587-9225-81A54866FD20}"/>
                  </a:ext>
                </a:extLst>
              </p:cNvPr>
              <p:cNvSpPr/>
              <p:nvPr/>
            </p:nvSpPr>
            <p:spPr>
              <a:xfrm>
                <a:off x="5466850" y="4449144"/>
                <a:ext cx="126444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0000FF"/>
                    </a:solidFill>
                  </a:rPr>
                  <a:t>: cost share</a:t>
                </a:r>
              </a:p>
            </p:txBody>
          </p:sp>
        </mc:Choice>
        <mc:Fallback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221BF980-D481-4587-9225-81A54866FD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850" y="4449144"/>
                <a:ext cx="1264449" cy="307777"/>
              </a:xfrm>
              <a:prstGeom prst="rect">
                <a:avLst/>
              </a:prstGeom>
              <a:blipFill>
                <a:blip r:embed="rId16"/>
                <a:stretch>
                  <a:fillRect t="-4000" r="-966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4367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603C-36DF-4CB6-84E2-18D108E2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78726-162F-4D50-8A1E-662DAD4F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2E0C98C-C59A-4083-AD7B-E6DB1B0B0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Duality theorem: production function =&gt; cost function</a:t>
            </a:r>
            <a:endParaRPr lang="en-US" sz="1800" dirty="0"/>
          </a:p>
          <a:p>
            <a:pPr lvl="1"/>
            <a:endParaRPr lang="en-US" sz="1800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F24C02B-BE3B-4C54-A4F0-ABB436C3D984}"/>
              </a:ext>
            </a:extLst>
          </p:cNvPr>
          <p:cNvGrpSpPr/>
          <p:nvPr/>
        </p:nvGrpSpPr>
        <p:grpSpPr>
          <a:xfrm>
            <a:off x="2487936" y="2480654"/>
            <a:ext cx="3098302" cy="1267519"/>
            <a:chOff x="1683189" y="3073258"/>
            <a:chExt cx="3098302" cy="1267519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B6A02D7-5319-4D6A-B4BF-020E12A786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6408" y="3429001"/>
              <a:ext cx="1062718" cy="5722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DBB4E86-E778-4365-8950-30A1E1C507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9126" y="3425036"/>
              <a:ext cx="1025950" cy="5792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353B4B-F601-417B-9256-DC13F1D970AD}"/>
                </a:ext>
              </a:extLst>
            </p:cNvPr>
            <p:cNvSpPr txBox="1"/>
            <p:nvPr/>
          </p:nvSpPr>
          <p:spPr>
            <a:xfrm>
              <a:off x="1683189" y="4002223"/>
              <a:ext cx="7258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PL: 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F987654-D112-449D-85F7-72000A2CE3CD}"/>
                </a:ext>
              </a:extLst>
            </p:cNvPr>
            <p:cNvSpPr txBox="1"/>
            <p:nvPr/>
          </p:nvSpPr>
          <p:spPr>
            <a:xfrm>
              <a:off x="4055627" y="4002223"/>
              <a:ext cx="7258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PK: 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E8B32F7-4E1D-4DB3-896F-66B614B3F62A}"/>
                </a:ext>
              </a:extLst>
            </p:cNvPr>
            <p:cNvSpPr txBox="1"/>
            <p:nvPr/>
          </p:nvSpPr>
          <p:spPr>
            <a:xfrm>
              <a:off x="2919419" y="3073258"/>
              <a:ext cx="7258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C: 1</a:t>
              </a:r>
            </a:p>
          </p:txBody>
        </p:sp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9906508E-ECCE-4862-BF1B-36FB84E0CEC6}"/>
                </a:ext>
              </a:extLst>
            </p:cNvPr>
            <p:cNvSpPr/>
            <p:nvPr/>
          </p:nvSpPr>
          <p:spPr>
            <a:xfrm>
              <a:off x="2863124" y="3144633"/>
              <a:ext cx="552004" cy="564771"/>
            </a:xfrm>
            <a:prstGeom prst="arc">
              <a:avLst>
                <a:gd name="adj1" fmla="val 21362137"/>
                <a:gd name="adj2" fmla="val 11134629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2FAD55F-7108-46DC-B92A-0EB3E8A1B6DE}"/>
                    </a:ext>
                  </a:extLst>
                </p:cNvPr>
                <p:cNvSpPr txBox="1"/>
                <p:nvPr/>
              </p:nvSpPr>
              <p:spPr>
                <a:xfrm>
                  <a:off x="2806481" y="3643341"/>
                  <a:ext cx="7258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2FAD55F-7108-46DC-B92A-0EB3E8A1B6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6481" y="3643341"/>
                  <a:ext cx="725864" cy="33855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61DD6B2-17CD-4A5D-8742-2F650914DCE2}"/>
              </a:ext>
            </a:extLst>
          </p:cNvPr>
          <p:cNvGrpSpPr/>
          <p:nvPr/>
        </p:nvGrpSpPr>
        <p:grpSpPr>
          <a:xfrm>
            <a:off x="6345562" y="843907"/>
            <a:ext cx="4052339" cy="4100007"/>
            <a:chOff x="6362196" y="1306857"/>
            <a:chExt cx="3401792" cy="3506967"/>
          </a:xfrm>
        </p:grpSpPr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A3DEDB45-B5A4-4CB5-9145-31E400F91B13}"/>
                </a:ext>
              </a:extLst>
            </p:cNvPr>
            <p:cNvSpPr/>
            <p:nvPr/>
          </p:nvSpPr>
          <p:spPr>
            <a:xfrm>
              <a:off x="6755710" y="1306857"/>
              <a:ext cx="3008278" cy="2714578"/>
            </a:xfrm>
            <a:prstGeom prst="arc">
              <a:avLst>
                <a:gd name="adj1" fmla="val 6270468"/>
                <a:gd name="adj2" fmla="val 10073206"/>
              </a:avLst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D5342408-B7DB-494D-9845-EAF0426CE9AA}"/>
                </a:ext>
              </a:extLst>
            </p:cNvPr>
            <p:cNvSpPr/>
            <p:nvPr/>
          </p:nvSpPr>
          <p:spPr>
            <a:xfrm>
              <a:off x="6941366" y="2472946"/>
              <a:ext cx="1478448" cy="1289975"/>
            </a:xfrm>
            <a:prstGeom prst="arc">
              <a:avLst>
                <a:gd name="adj1" fmla="val 5975905"/>
                <a:gd name="adj2" fmla="val 10545755"/>
              </a:avLst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390FF2D-B423-4B22-BF5D-1386116E1ED0}"/>
                </a:ext>
              </a:extLst>
            </p:cNvPr>
            <p:cNvGrpSpPr/>
            <p:nvPr/>
          </p:nvGrpSpPr>
          <p:grpSpPr>
            <a:xfrm>
              <a:off x="6362196" y="2706859"/>
              <a:ext cx="2794606" cy="2106965"/>
              <a:chOff x="6362196" y="2706859"/>
              <a:chExt cx="2794606" cy="2106965"/>
            </a:xfrm>
          </p:grpSpPr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BC7F941B-88B6-4469-AF73-423FE5235F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40165" y="2771480"/>
                <a:ext cx="0" cy="17722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87B23DED-0798-4310-B9FD-0B0960B6C0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40165" y="4543719"/>
                <a:ext cx="2091179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1A970466-B7F8-483A-800F-43764F2BE058}"/>
                  </a:ext>
                </a:extLst>
              </p:cNvPr>
              <p:cNvCxnSpPr/>
              <p:nvPr/>
            </p:nvCxnSpPr>
            <p:spPr>
              <a:xfrm>
                <a:off x="7126664" y="3572759"/>
                <a:ext cx="0" cy="97096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BC64AED-FD02-4BE4-8826-35DB98A906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704029" y="3571457"/>
                <a:ext cx="422635" cy="2602"/>
              </a:xfrm>
              <a:prstGeom prst="line">
                <a:avLst/>
              </a:prstGeom>
              <a:ln>
                <a:prstDash val="lgDash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6106CE7-EC52-4D47-BC36-F8816B5E9791}"/>
                  </a:ext>
                </a:extLst>
              </p:cNvPr>
              <p:cNvSpPr txBox="1"/>
              <p:nvPr/>
            </p:nvSpPr>
            <p:spPr>
              <a:xfrm>
                <a:off x="6941366" y="4509379"/>
                <a:ext cx="686100" cy="289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1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06E161D-3CD9-4495-8756-A5A5729CFFEE}"/>
                  </a:ext>
                </a:extLst>
              </p:cNvPr>
              <p:cNvSpPr txBox="1"/>
              <p:nvPr/>
            </p:nvSpPr>
            <p:spPr>
              <a:xfrm>
                <a:off x="6362196" y="3400309"/>
                <a:ext cx="686100" cy="289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1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7EA5A12-7AE8-4710-8150-A2D2B2080C34}"/>
                  </a:ext>
                </a:extLst>
              </p:cNvPr>
              <p:cNvSpPr txBox="1"/>
              <p:nvPr/>
            </p:nvSpPr>
            <p:spPr>
              <a:xfrm>
                <a:off x="8646087" y="4524240"/>
                <a:ext cx="510715" cy="289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PL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9740FA6-E615-4CED-B280-B41090A06E5D}"/>
                  </a:ext>
                </a:extLst>
              </p:cNvPr>
              <p:cNvSpPr txBox="1"/>
              <p:nvPr/>
            </p:nvSpPr>
            <p:spPr>
              <a:xfrm>
                <a:off x="6430651" y="2706859"/>
                <a:ext cx="510715" cy="289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PK</a:t>
                </a:r>
              </a:p>
            </p:txBody>
          </p: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40EB8EE-A772-44FA-A7D7-F7653D546E07}"/>
                  </a:ext>
                </a:extLst>
              </p:cNvPr>
              <p:cNvCxnSpPr/>
              <p:nvPr/>
            </p:nvCxnSpPr>
            <p:spPr>
              <a:xfrm>
                <a:off x="6843860" y="3308808"/>
                <a:ext cx="1102936" cy="1031969"/>
              </a:xfrm>
              <a:prstGeom prst="line">
                <a:avLst/>
              </a:prstGeom>
              <a:ln>
                <a:solidFill>
                  <a:srgbClr val="0000FF"/>
                </a:solidFill>
                <a:prstDash val="soli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BF7E297F-3A9B-4A02-AAF0-D67E7E9DC8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6664" y="3266060"/>
                <a:ext cx="4717" cy="294713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64C84039-2119-420A-90CC-A63CD4A66B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42207" y="3569587"/>
                <a:ext cx="284058" cy="0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B3A8EFB-963A-417A-902D-2BB0E45C299D}"/>
                  </a:ext>
                </a:extLst>
              </p:cNvPr>
              <p:cNvSpPr txBox="1"/>
              <p:nvPr/>
            </p:nvSpPr>
            <p:spPr>
              <a:xfrm>
                <a:off x="7588661" y="3318173"/>
                <a:ext cx="19141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C=1;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B3A8EFB-963A-417A-902D-2BB0E45C2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661" y="3318173"/>
                <a:ext cx="1914193" cy="338554"/>
              </a:xfrm>
              <a:prstGeom prst="rect">
                <a:avLst/>
              </a:prstGeom>
              <a:blipFill>
                <a:blip r:embed="rId3"/>
                <a:stretch>
                  <a:fillRect l="-1911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F927453-6F82-41B4-8B28-41832455A85D}"/>
                  </a:ext>
                </a:extLst>
              </p:cNvPr>
              <p:cNvSpPr txBox="1"/>
              <p:nvPr/>
            </p:nvSpPr>
            <p:spPr>
              <a:xfrm>
                <a:off x="7769678" y="3537427"/>
                <a:ext cx="19141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C=1;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F927453-6F82-41B4-8B28-41832455A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9678" y="3537427"/>
                <a:ext cx="1914193" cy="338554"/>
              </a:xfrm>
              <a:prstGeom prst="rect">
                <a:avLst/>
              </a:prstGeom>
              <a:blipFill>
                <a:blip r:embed="rId4"/>
                <a:stretch>
                  <a:fillRect l="-1911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20EED52-F3FF-416B-B305-342C7975A0F9}"/>
                  </a:ext>
                </a:extLst>
              </p:cNvPr>
              <p:cNvSpPr txBox="1"/>
              <p:nvPr/>
            </p:nvSpPr>
            <p:spPr>
              <a:xfrm>
                <a:off x="8211154" y="3812753"/>
                <a:ext cx="19141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C=1;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20EED52-F3FF-416B-B305-342C7975A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1154" y="3812753"/>
                <a:ext cx="1914193" cy="338554"/>
              </a:xfrm>
              <a:prstGeom prst="rect">
                <a:avLst/>
              </a:prstGeom>
              <a:blipFill>
                <a:blip r:embed="rId5"/>
                <a:stretch>
                  <a:fillRect l="-1911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FDE721D-337B-4918-9690-8B8D3EBC1F86}"/>
                  </a:ext>
                </a:extLst>
              </p:cNvPr>
              <p:cNvSpPr txBox="1"/>
              <p:nvPr/>
            </p:nvSpPr>
            <p:spPr>
              <a:xfrm>
                <a:off x="8209479" y="4245337"/>
                <a:ext cx="19141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C=1;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FDE721D-337B-4918-9690-8B8D3EBC1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479" y="4245337"/>
                <a:ext cx="1914193" cy="338554"/>
              </a:xfrm>
              <a:prstGeom prst="rect">
                <a:avLst/>
              </a:prstGeom>
              <a:blipFill>
                <a:blip r:embed="rId6"/>
                <a:stretch>
                  <a:fillRect l="-1911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BB1A5459-2AB1-4002-B1BE-99E595562C81}"/>
              </a:ext>
            </a:extLst>
          </p:cNvPr>
          <p:cNvGrpSpPr/>
          <p:nvPr/>
        </p:nvGrpSpPr>
        <p:grpSpPr>
          <a:xfrm>
            <a:off x="2389119" y="4628133"/>
            <a:ext cx="4975980" cy="2054965"/>
            <a:chOff x="2389119" y="4628133"/>
            <a:chExt cx="4975980" cy="2054965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B60ABB8-2B25-437A-A92B-449731C747D7}"/>
                </a:ext>
              </a:extLst>
            </p:cNvPr>
            <p:cNvGrpSpPr/>
            <p:nvPr/>
          </p:nvGrpSpPr>
          <p:grpSpPr>
            <a:xfrm>
              <a:off x="2751613" y="5757691"/>
              <a:ext cx="3384591" cy="490647"/>
              <a:chOff x="2802974" y="5822562"/>
              <a:chExt cx="3384591" cy="490647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4B0BF7D7-9226-48E4-93F7-804203F560B4}"/>
                      </a:ext>
                    </a:extLst>
                  </p:cNvPr>
                  <p:cNvSpPr/>
                  <p:nvPr/>
                </p:nvSpPr>
                <p:spPr>
                  <a:xfrm>
                    <a:off x="2802974" y="5822562"/>
                    <a:ext cx="1285352" cy="49064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∏"/>
                              <m:limLoc m:val="subSup"/>
                              <m:supHide m:val="on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</m:sSub>
                                </m:sup>
                              </m:sSubSup>
                            </m:e>
                          </m:nary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4B0BF7D7-9226-48E4-93F7-804203F560B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974" y="5822562"/>
                    <a:ext cx="1285352" cy="49064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5640" t="-156250" r="-68720" b="-22625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9A537747-172D-45B5-95C0-8D2DC45B97BD}"/>
                      </a:ext>
                    </a:extLst>
                  </p:cNvPr>
                  <p:cNvSpPr/>
                  <p:nvPr/>
                </p:nvSpPr>
                <p:spPr>
                  <a:xfrm>
                    <a:off x="5518856" y="5916670"/>
                    <a:ext cx="668709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9A537747-172D-45B5-95C0-8D2DC45B97B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18856" y="5916670"/>
                    <a:ext cx="668709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6A8559A3-22C6-4A7D-A799-7D3F83E371BB}"/>
                </a:ext>
              </a:extLst>
            </p:cNvPr>
            <p:cNvGrpSpPr/>
            <p:nvPr/>
          </p:nvGrpSpPr>
          <p:grpSpPr>
            <a:xfrm>
              <a:off x="2727120" y="6375320"/>
              <a:ext cx="3409083" cy="307778"/>
              <a:chOff x="2751613" y="6330565"/>
              <a:chExt cx="3409083" cy="307778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C48754D8-F6D7-41B3-BB8B-01DFB309732B}"/>
                      </a:ext>
                    </a:extLst>
                  </p:cNvPr>
                  <p:cNvSpPr/>
                  <p:nvPr/>
                </p:nvSpPr>
                <p:spPr>
                  <a:xfrm>
                    <a:off x="2751613" y="6330566"/>
                    <a:ext cx="2576090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, …,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func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59" name="Rectangle 58">
                    <a:extLst>
                      <a:ext uri="{FF2B5EF4-FFF2-40B4-BE49-F238E27FC236}">
                        <a16:creationId xmlns:a16="http://schemas.microsoft.com/office/drawing/2014/main" id="{C48754D8-F6D7-41B3-BB8B-01DFB309732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51613" y="6330566"/>
                    <a:ext cx="2576090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8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8FABBC1E-7B1A-45A4-B897-986367311529}"/>
                      </a:ext>
                    </a:extLst>
                  </p:cNvPr>
                  <p:cNvSpPr/>
                  <p:nvPr/>
                </p:nvSpPr>
                <p:spPr>
                  <a:xfrm>
                    <a:off x="5491987" y="6330565"/>
                    <a:ext cx="668709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8FABBC1E-7B1A-45A4-B897-98636731152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91987" y="6330565"/>
                    <a:ext cx="668709" cy="30777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853CEB7-0615-4509-9438-9085E97AE946}"/>
                </a:ext>
              </a:extLst>
            </p:cNvPr>
            <p:cNvGrpSpPr/>
            <p:nvPr/>
          </p:nvGrpSpPr>
          <p:grpSpPr>
            <a:xfrm>
              <a:off x="2751613" y="5077517"/>
              <a:ext cx="4613486" cy="615297"/>
              <a:chOff x="2802974" y="5254482"/>
              <a:chExt cx="4613486" cy="615297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2BA389BE-6F13-46BD-8F2D-8F38A23CB7B9}"/>
                      </a:ext>
                    </a:extLst>
                  </p:cNvPr>
                  <p:cNvSpPr/>
                  <p:nvPr/>
                </p:nvSpPr>
                <p:spPr>
                  <a:xfrm>
                    <a:off x="2802974" y="5254482"/>
                    <a:ext cx="2460545" cy="6152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limLoc m:val="subSup"/>
                                      <m:supHide m:val="on"/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b>
                                    <m:sup/>
                                    <m:e>
                                      <m:sSub>
                                        <m:sSub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400" b="0" i="1" smtClean="0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  <m:sup>
                                          <m:r>
                                            <a:rPr lang="en-US" sz="1400" i="1">
                                              <a:latin typeface="Cambria Math" panose="02040503050406030204" pitchFamily="18" charset="0"/>
                                            </a:rPr>
                                            <m:t>𝜌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den>
                              </m:f>
                            </m:sup>
                          </m:sSup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 ;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6" name="Rectangle 5">
                    <a:extLst>
                      <a:ext uri="{FF2B5EF4-FFF2-40B4-BE49-F238E27FC236}">
                        <a16:creationId xmlns:a16="http://schemas.microsoft.com/office/drawing/2014/main" id="{2BA389BE-6F13-46BD-8F2D-8F38A23CB7B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974" y="5254482"/>
                    <a:ext cx="2460545" cy="61529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6DF946A1-233A-4E05-9ED7-5CCC95ED2F2A}"/>
                      </a:ext>
                    </a:extLst>
                  </p:cNvPr>
                  <p:cNvSpPr/>
                  <p:nvPr/>
                </p:nvSpPr>
                <p:spPr>
                  <a:xfrm>
                    <a:off x="5540478" y="5465371"/>
                    <a:ext cx="1875982" cy="30777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&gt;0</m:t>
                        </m:r>
                      </m:oMath>
                    </a14:m>
                    <a:r>
                      <a:rPr lang="en-US" sz="1400" dirty="0"/>
                      <a:t>; </a:t>
                    </a:r>
                    <a14:m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≠1</m:t>
                        </m:r>
                      </m:oMath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6DF946A1-233A-4E05-9ED7-5CCC95ED2F2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40478" y="5465371"/>
                    <a:ext cx="1875982" cy="30777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t="-400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C5790DB3-96F5-4034-8935-C0E626DDB6D0}"/>
                </a:ext>
              </a:extLst>
            </p:cNvPr>
            <p:cNvGrpSpPr/>
            <p:nvPr/>
          </p:nvGrpSpPr>
          <p:grpSpPr>
            <a:xfrm>
              <a:off x="2745800" y="4628133"/>
              <a:ext cx="3437076" cy="490647"/>
              <a:chOff x="2811643" y="4688363"/>
              <a:chExt cx="3437076" cy="490647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E00E9A1B-7EA1-4E07-8DE3-156337B9B84D}"/>
                      </a:ext>
                    </a:extLst>
                  </p:cNvPr>
                  <p:cNvSpPr/>
                  <p:nvPr/>
                </p:nvSpPr>
                <p:spPr>
                  <a:xfrm>
                    <a:off x="2811643" y="4688363"/>
                    <a:ext cx="1352485" cy="49064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nary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E00E9A1B-7EA1-4E07-8DE3-156337B9B84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11643" y="4688363"/>
                    <a:ext cx="1352485" cy="49064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5315" t="-154321" r="-49099" b="-2222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269F8AA1-878E-4738-9620-74DDF3BD77FB}"/>
                      </a:ext>
                    </a:extLst>
                  </p:cNvPr>
                  <p:cNvSpPr/>
                  <p:nvPr/>
                </p:nvSpPr>
                <p:spPr>
                  <a:xfrm>
                    <a:off x="5527111" y="4767856"/>
                    <a:ext cx="721608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=∞</m:t>
                          </m:r>
                        </m:oMath>
                      </m:oMathPara>
                    </a14:m>
                    <a:endParaRPr lang="en-US" sz="1400" b="0" dirty="0"/>
                  </a:p>
                </p:txBody>
              </p:sp>
            </mc:Choice>
            <mc:Fallback>
              <p:sp>
                <p:nvSpPr>
                  <p:cNvPr id="64" name="Rectangle 63">
                    <a:extLst>
                      <a:ext uri="{FF2B5EF4-FFF2-40B4-BE49-F238E27FC236}">
                        <a16:creationId xmlns:a16="http://schemas.microsoft.com/office/drawing/2014/main" id="{269F8AA1-878E-4738-9620-74DDF3BD77F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27111" y="4767856"/>
                    <a:ext cx="721608" cy="30777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9" name="Left Brace 68">
              <a:extLst>
                <a:ext uri="{FF2B5EF4-FFF2-40B4-BE49-F238E27FC236}">
                  <a16:creationId xmlns:a16="http://schemas.microsoft.com/office/drawing/2014/main" id="{AB258718-C80A-4638-A07F-D860DC40A55A}"/>
                </a:ext>
              </a:extLst>
            </p:cNvPr>
            <p:cNvSpPr/>
            <p:nvPr/>
          </p:nvSpPr>
          <p:spPr>
            <a:xfrm>
              <a:off x="2389119" y="4707626"/>
              <a:ext cx="240959" cy="1975471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9C7FF5F-1CF4-48CF-8F2A-5E7CFF7061A3}"/>
                  </a:ext>
                </a:extLst>
              </p:cNvPr>
              <p:cNvSpPr/>
              <p:nvPr/>
            </p:nvSpPr>
            <p:spPr>
              <a:xfrm>
                <a:off x="2216476" y="3667540"/>
                <a:ext cx="2625078" cy="8892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≡[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  <m:f>
                        <m:fPr>
                          <m:type m:val="li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[</m:t>
                          </m:r>
                        </m:den>
                      </m:f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  <m:r>
                        <a:rPr lang="en-US" sz="1400" i="0">
                          <a:latin typeface="Cambria Math" panose="02040503050406030204" pitchFamily="18" charset="0"/>
                        </a:rPr>
                        <m:t>]=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9C7FF5F-1CF4-48CF-8F2A-5E7CFF7061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476" y="3667540"/>
                <a:ext cx="2625078" cy="88921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CEA58EDC-5511-499A-9AD0-1E4BA1B78D2C}"/>
                  </a:ext>
                </a:extLst>
              </p:cNvPr>
              <p:cNvSpPr/>
              <p:nvPr/>
            </p:nvSpPr>
            <p:spPr>
              <a:xfrm>
                <a:off x="5466850" y="4449144"/>
                <a:ext cx="126444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  <m:sub>
                        <m:r>
                          <a:rPr lang="en-US" sz="1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r>
                  <a:rPr lang="en-US" sz="1400" b="1" dirty="0">
                    <a:solidFill>
                      <a:srgbClr val="0000FF"/>
                    </a:solidFill>
                  </a:rPr>
                  <a:t>: cost share</a:t>
                </a:r>
              </a:p>
            </p:txBody>
          </p:sp>
        </mc:Choice>
        <mc:Fallback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CEA58EDC-5511-499A-9AD0-1E4BA1B78D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850" y="4449144"/>
                <a:ext cx="1264449" cy="307777"/>
              </a:xfrm>
              <a:prstGeom prst="rect">
                <a:avLst/>
              </a:prstGeom>
              <a:blipFill>
                <a:blip r:embed="rId16"/>
                <a:stretch>
                  <a:fillRect t="-4000" r="-966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499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603C-36DF-4CB6-84E2-18D108E2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Accounting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78726-162F-4D50-8A1E-662DAD4F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4</a:t>
            </a:fld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6A36F153-4E47-4E56-A2B9-119DEA066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M21_mcp.gms; M21.gms (Markusen, 2002)</a:t>
            </a:r>
          </a:p>
          <a:p>
            <a:r>
              <a:rPr lang="en-US" dirty="0"/>
              <a:t>Summarizing the input-output structure of an economy</a:t>
            </a:r>
            <a:endParaRPr lang="en-US" sz="1800" dirty="0"/>
          </a:p>
          <a:p>
            <a:pPr lvl="1"/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17575-BF04-4794-B0F7-606AADC81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414" y="3214345"/>
            <a:ext cx="7109171" cy="21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52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603C-36DF-4CB6-84E2-18D108E2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Accounting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78726-162F-4D50-8A1E-662DAD4F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5</a:t>
            </a:fld>
            <a:endParaRPr lang="en-US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6A36F153-4E47-4E56-A2B9-119DEA066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pPr lvl="1"/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17575-BF04-4794-B0F7-606AADC81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414" y="3214345"/>
            <a:ext cx="7109171" cy="214008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6C222DD-A051-4A50-BC8E-B066EC25C1FF}"/>
              </a:ext>
            </a:extLst>
          </p:cNvPr>
          <p:cNvGrpSpPr/>
          <p:nvPr/>
        </p:nvGrpSpPr>
        <p:grpSpPr>
          <a:xfrm>
            <a:off x="838200" y="3852049"/>
            <a:ext cx="11030136" cy="2387243"/>
            <a:chOff x="838200" y="3852049"/>
            <a:chExt cx="11030136" cy="238724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6A3A448-3F6C-4C4C-8C06-3447B45D6B83}"/>
                </a:ext>
              </a:extLst>
            </p:cNvPr>
            <p:cNvGrpSpPr/>
            <p:nvPr/>
          </p:nvGrpSpPr>
          <p:grpSpPr>
            <a:xfrm>
              <a:off x="4260033" y="3852049"/>
              <a:ext cx="511175" cy="2022599"/>
              <a:chOff x="3430474" y="3614556"/>
              <a:chExt cx="511175" cy="2022599"/>
            </a:xfrm>
          </p:grpSpPr>
          <p:sp>
            <p:nvSpPr>
              <p:cNvPr id="7" name="矩形 4">
                <a:extLst>
                  <a:ext uri="{FF2B5EF4-FFF2-40B4-BE49-F238E27FC236}">
                    <a16:creationId xmlns:a16="http://schemas.microsoft.com/office/drawing/2014/main" id="{D303E5DF-5312-4C6E-AE9B-40B02E3336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0474" y="3614556"/>
                <a:ext cx="511175" cy="1389062"/>
              </a:xfrm>
              <a:prstGeom prst="rect">
                <a:avLst/>
              </a:prstGeom>
              <a:noFill/>
              <a:ln w="9525" algn="ctr">
                <a:solidFill>
                  <a:srgbClr val="0000FF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TW" altLang="en-US">
                  <a:ea typeface="PMingLiU" panose="02020500000000000000" pitchFamily="18" charset="-120"/>
                </a:endParaRPr>
              </a:p>
            </p:txBody>
          </p:sp>
          <p:cxnSp>
            <p:nvCxnSpPr>
              <p:cNvPr id="9" name="直線單箭頭接點 13">
                <a:extLst>
                  <a:ext uri="{FF2B5EF4-FFF2-40B4-BE49-F238E27FC236}">
                    <a16:creationId xmlns:a16="http://schemas.microsoft.com/office/drawing/2014/main" id="{1BDCEB58-CE40-457F-A480-9D049B971D4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574527" y="5003618"/>
                <a:ext cx="2" cy="633537"/>
              </a:xfrm>
              <a:prstGeom prst="straightConnector1">
                <a:avLst/>
              </a:prstGeom>
              <a:noFill/>
              <a:ln w="9525" algn="ctr">
                <a:solidFill>
                  <a:srgbClr val="0000FF"/>
                </a:solidFill>
                <a:prstDash val="sysDash"/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1" name="文字方塊 11">
              <a:extLst>
                <a:ext uri="{FF2B5EF4-FFF2-40B4-BE49-F238E27FC236}">
                  <a16:creationId xmlns:a16="http://schemas.microsoft.com/office/drawing/2014/main" id="{98BBD530-8128-4E1A-B6F3-1CEC796D0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5900738"/>
              <a:ext cx="1103013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1600" b="1" dirty="0">
                  <a:solidFill>
                    <a:srgbClr val="0000FF"/>
                  </a:solidFill>
                  <a:ea typeface="PMingLiU" panose="02020500000000000000" pitchFamily="18" charset="-120"/>
                </a:rPr>
                <a:t>Zero-profit condition for X : MC-MR &gt;= 0 ; Q &gt;= 0 ; (MC-MR)*Q = 0 ; No need to worry about MC-MR &lt; 0 (Why?)  </a:t>
              </a:r>
              <a:endParaRPr lang="zh-TW" altLang="en-US" sz="1600" b="1" dirty="0">
                <a:solidFill>
                  <a:srgbClr val="0000FF"/>
                </a:solidFill>
                <a:ea typeface="PMingLiU" panose="02020500000000000000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2179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603C-36DF-4CB6-84E2-18D108E2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Accounting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78726-162F-4D50-8A1E-662DAD4F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17575-BF04-4794-B0F7-606AADC81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414" y="3214345"/>
            <a:ext cx="7109171" cy="214008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995F3E5-E3A1-4775-990C-17C15A5CB65D}"/>
              </a:ext>
            </a:extLst>
          </p:cNvPr>
          <p:cNvGrpSpPr/>
          <p:nvPr/>
        </p:nvGrpSpPr>
        <p:grpSpPr>
          <a:xfrm>
            <a:off x="1677954" y="2529879"/>
            <a:ext cx="10058416" cy="1628353"/>
            <a:chOff x="1168906" y="1819614"/>
            <a:chExt cx="10058416" cy="162835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8BA6C42-C1AF-4F86-BCF4-9CE2ABB11978}"/>
                </a:ext>
              </a:extLst>
            </p:cNvPr>
            <p:cNvGrpSpPr/>
            <p:nvPr/>
          </p:nvGrpSpPr>
          <p:grpSpPr>
            <a:xfrm>
              <a:off x="3574265" y="2111605"/>
              <a:ext cx="3269595" cy="1336362"/>
              <a:chOff x="3574265" y="2111605"/>
              <a:chExt cx="3269595" cy="1336362"/>
            </a:xfrm>
          </p:grpSpPr>
          <p:sp>
            <p:nvSpPr>
              <p:cNvPr id="14" name="矩形 9">
                <a:extLst>
                  <a:ext uri="{FF2B5EF4-FFF2-40B4-BE49-F238E27FC236}">
                    <a16:creationId xmlns:a16="http://schemas.microsoft.com/office/drawing/2014/main" id="{23F76E84-9F7D-41C6-9B39-1D6C14EE0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4265" y="3192379"/>
                <a:ext cx="3269595" cy="255588"/>
              </a:xfrm>
              <a:prstGeom prst="rect">
                <a:avLst/>
              </a:prstGeom>
              <a:noFill/>
              <a:ln w="9525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TW" altLang="en-US">
                  <a:ea typeface="PMingLiU" panose="02020500000000000000" pitchFamily="18" charset="-120"/>
                </a:endParaRPr>
              </a:p>
            </p:txBody>
          </p:sp>
          <p:cxnSp>
            <p:nvCxnSpPr>
              <p:cNvPr id="15" name="直線單箭頭接點 17">
                <a:extLst>
                  <a:ext uri="{FF2B5EF4-FFF2-40B4-BE49-F238E27FC236}">
                    <a16:creationId xmlns:a16="http://schemas.microsoft.com/office/drawing/2014/main" id="{730F5DE0-3AAC-49D9-9164-FF8FB5A0D60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594384" y="2111605"/>
                <a:ext cx="0" cy="1080774"/>
              </a:xfrm>
              <a:prstGeom prst="straightConnector1">
                <a:avLst/>
              </a:prstGeom>
              <a:noFill/>
              <a:ln w="9525" algn="ctr">
                <a:solidFill>
                  <a:srgbClr val="FF0000"/>
                </a:solidFill>
                <a:prstDash val="sysDash"/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3" name="文字方塊 19">
              <a:extLst>
                <a:ext uri="{FF2B5EF4-FFF2-40B4-BE49-F238E27FC236}">
                  <a16:creationId xmlns:a16="http://schemas.microsoft.com/office/drawing/2014/main" id="{5A83D684-F1BB-4C74-8813-B8125D84F7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8906" y="1819614"/>
              <a:ext cx="1005841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1600" b="1" dirty="0">
                  <a:solidFill>
                    <a:srgbClr val="FF3300"/>
                  </a:solidFill>
                  <a:ea typeface="PMingLiU" panose="02020500000000000000" pitchFamily="18" charset="-120"/>
                </a:rPr>
                <a:t>Market clearing condition for X : S-D &gt;= 0 ; P &gt;= 0 ; (S-D)*P = 0 ; No need to worry about S-D &lt; 0 (why?) </a:t>
              </a:r>
              <a:endParaRPr lang="zh-TW" altLang="en-US" sz="1600" b="1" dirty="0">
                <a:solidFill>
                  <a:srgbClr val="FF3300"/>
                </a:solidFill>
                <a:ea typeface="PMingLiU" panose="02020500000000000000" pitchFamily="18" charset="-12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4895882-BD65-4DDA-941A-53D143A9379C}"/>
              </a:ext>
            </a:extLst>
          </p:cNvPr>
          <p:cNvGrpSpPr/>
          <p:nvPr/>
        </p:nvGrpSpPr>
        <p:grpSpPr>
          <a:xfrm>
            <a:off x="838200" y="3852049"/>
            <a:ext cx="11030136" cy="2387243"/>
            <a:chOff x="838200" y="3852049"/>
            <a:chExt cx="11030136" cy="238724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6A3A448-3F6C-4C4C-8C06-3447B45D6B83}"/>
                </a:ext>
              </a:extLst>
            </p:cNvPr>
            <p:cNvGrpSpPr/>
            <p:nvPr/>
          </p:nvGrpSpPr>
          <p:grpSpPr>
            <a:xfrm>
              <a:off x="4260033" y="3852049"/>
              <a:ext cx="511175" cy="2022599"/>
              <a:chOff x="3430474" y="3614556"/>
              <a:chExt cx="511175" cy="2022599"/>
            </a:xfrm>
          </p:grpSpPr>
          <p:sp>
            <p:nvSpPr>
              <p:cNvPr id="7" name="矩形 4">
                <a:extLst>
                  <a:ext uri="{FF2B5EF4-FFF2-40B4-BE49-F238E27FC236}">
                    <a16:creationId xmlns:a16="http://schemas.microsoft.com/office/drawing/2014/main" id="{D303E5DF-5312-4C6E-AE9B-40B02E3336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0474" y="3614556"/>
                <a:ext cx="511175" cy="1389062"/>
              </a:xfrm>
              <a:prstGeom prst="rect">
                <a:avLst/>
              </a:prstGeom>
              <a:noFill/>
              <a:ln w="9525" algn="ctr">
                <a:solidFill>
                  <a:srgbClr val="0000FF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TW" altLang="en-US">
                  <a:ea typeface="PMingLiU" panose="02020500000000000000" pitchFamily="18" charset="-120"/>
                </a:endParaRPr>
              </a:p>
            </p:txBody>
          </p:sp>
          <p:cxnSp>
            <p:nvCxnSpPr>
              <p:cNvPr id="9" name="直線單箭頭接點 13">
                <a:extLst>
                  <a:ext uri="{FF2B5EF4-FFF2-40B4-BE49-F238E27FC236}">
                    <a16:creationId xmlns:a16="http://schemas.microsoft.com/office/drawing/2014/main" id="{1BDCEB58-CE40-457F-A480-9D049B971D4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574527" y="5003618"/>
                <a:ext cx="2" cy="633537"/>
              </a:xfrm>
              <a:prstGeom prst="straightConnector1">
                <a:avLst/>
              </a:prstGeom>
              <a:noFill/>
              <a:ln w="9525" algn="ctr">
                <a:solidFill>
                  <a:srgbClr val="0000FF"/>
                </a:solidFill>
                <a:prstDash val="sysDash"/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8" name="文字方塊 11">
              <a:extLst>
                <a:ext uri="{FF2B5EF4-FFF2-40B4-BE49-F238E27FC236}">
                  <a16:creationId xmlns:a16="http://schemas.microsoft.com/office/drawing/2014/main" id="{8FDE7DE7-8485-4E78-A02C-D86749586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5900738"/>
              <a:ext cx="1103013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1600" b="1" dirty="0">
                  <a:solidFill>
                    <a:srgbClr val="0000FF"/>
                  </a:solidFill>
                  <a:ea typeface="PMingLiU" panose="02020500000000000000" pitchFamily="18" charset="-120"/>
                </a:rPr>
                <a:t>Zero-profit condition for X : MC-MR &gt;= 0 ; Q &gt;= 0 ; (MC-MR)*Q = 0 ; No need to worry about MC-MR &lt; 0 (Why?)  </a:t>
              </a:r>
              <a:endParaRPr lang="zh-TW" altLang="en-US" sz="1600" b="1" dirty="0">
                <a:solidFill>
                  <a:srgbClr val="0000FF"/>
                </a:solidFill>
                <a:ea typeface="PMingLiU" panose="02020500000000000000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3033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603C-36DF-4CB6-84E2-18D108E2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Social Accounting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78726-162F-4D50-8A1E-662DAD4F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17575-BF04-4794-B0F7-606AADC81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414" y="3214345"/>
            <a:ext cx="7109171" cy="214008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995F3E5-E3A1-4775-990C-17C15A5CB65D}"/>
              </a:ext>
            </a:extLst>
          </p:cNvPr>
          <p:cNvGrpSpPr/>
          <p:nvPr/>
        </p:nvGrpSpPr>
        <p:grpSpPr>
          <a:xfrm>
            <a:off x="1677954" y="2529879"/>
            <a:ext cx="10058416" cy="1628353"/>
            <a:chOff x="1168906" y="1819614"/>
            <a:chExt cx="10058416" cy="162835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8BA6C42-C1AF-4F86-BCF4-9CE2ABB11978}"/>
                </a:ext>
              </a:extLst>
            </p:cNvPr>
            <p:cNvGrpSpPr/>
            <p:nvPr/>
          </p:nvGrpSpPr>
          <p:grpSpPr>
            <a:xfrm>
              <a:off x="3574265" y="2111605"/>
              <a:ext cx="3269595" cy="1336362"/>
              <a:chOff x="3574265" y="2111605"/>
              <a:chExt cx="3269595" cy="1336362"/>
            </a:xfrm>
          </p:grpSpPr>
          <p:sp>
            <p:nvSpPr>
              <p:cNvPr id="14" name="矩形 9">
                <a:extLst>
                  <a:ext uri="{FF2B5EF4-FFF2-40B4-BE49-F238E27FC236}">
                    <a16:creationId xmlns:a16="http://schemas.microsoft.com/office/drawing/2014/main" id="{23F76E84-9F7D-41C6-9B39-1D6C14EE0D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4265" y="3192379"/>
                <a:ext cx="3269595" cy="255588"/>
              </a:xfrm>
              <a:prstGeom prst="rect">
                <a:avLst/>
              </a:prstGeom>
              <a:noFill/>
              <a:ln w="9525" algn="ctr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TW" altLang="en-US">
                  <a:ea typeface="PMingLiU" panose="02020500000000000000" pitchFamily="18" charset="-120"/>
                </a:endParaRPr>
              </a:p>
            </p:txBody>
          </p:sp>
          <p:cxnSp>
            <p:nvCxnSpPr>
              <p:cNvPr id="15" name="直線單箭頭接點 17">
                <a:extLst>
                  <a:ext uri="{FF2B5EF4-FFF2-40B4-BE49-F238E27FC236}">
                    <a16:creationId xmlns:a16="http://schemas.microsoft.com/office/drawing/2014/main" id="{730F5DE0-3AAC-49D9-9164-FF8FB5A0D60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594384" y="2111605"/>
                <a:ext cx="0" cy="1080774"/>
              </a:xfrm>
              <a:prstGeom prst="straightConnector1">
                <a:avLst/>
              </a:prstGeom>
              <a:noFill/>
              <a:ln w="9525" algn="ctr">
                <a:solidFill>
                  <a:srgbClr val="FF0000"/>
                </a:solidFill>
                <a:prstDash val="sysDash"/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3" name="文字方塊 19">
              <a:extLst>
                <a:ext uri="{FF2B5EF4-FFF2-40B4-BE49-F238E27FC236}">
                  <a16:creationId xmlns:a16="http://schemas.microsoft.com/office/drawing/2014/main" id="{5A83D684-F1BB-4C74-8813-B8125D84F7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8906" y="1819614"/>
              <a:ext cx="1005841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1600" b="1" dirty="0">
                  <a:solidFill>
                    <a:srgbClr val="FF3300"/>
                  </a:solidFill>
                  <a:ea typeface="PMingLiU" panose="02020500000000000000" pitchFamily="18" charset="-120"/>
                </a:rPr>
                <a:t>Market clearing condition for X : S-D &gt;= 0 ; P &gt;= 0 ; (S-D)*P = 0 ; No need to worry about S-D &lt; 0 (why?) </a:t>
              </a:r>
              <a:endParaRPr lang="zh-TW" altLang="en-US" sz="1600" b="1" dirty="0">
                <a:solidFill>
                  <a:srgbClr val="FF3300"/>
                </a:solidFill>
                <a:ea typeface="PMingLiU" panose="02020500000000000000" pitchFamily="18" charset="-12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4523F32-8755-4A83-B4B1-F79602AFBE97}"/>
              </a:ext>
            </a:extLst>
          </p:cNvPr>
          <p:cNvGrpSpPr/>
          <p:nvPr/>
        </p:nvGrpSpPr>
        <p:grpSpPr>
          <a:xfrm>
            <a:off x="6362881" y="3849944"/>
            <a:ext cx="5627019" cy="1966152"/>
            <a:chOff x="7460529" y="3139970"/>
            <a:chExt cx="5627019" cy="1966152"/>
          </a:xfrm>
        </p:grpSpPr>
        <p:sp>
          <p:nvSpPr>
            <p:cNvPr id="19" name="矩形 8">
              <a:extLst>
                <a:ext uri="{FF2B5EF4-FFF2-40B4-BE49-F238E27FC236}">
                  <a16:creationId xmlns:a16="http://schemas.microsoft.com/office/drawing/2014/main" id="{A39ED9FA-845C-4113-87A9-5369A1A1C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0529" y="3139970"/>
              <a:ext cx="620713" cy="1389062"/>
            </a:xfrm>
            <a:prstGeom prst="rect">
              <a:avLst/>
            </a:prstGeom>
            <a:noFill/>
            <a:ln w="9525" algn="ctr">
              <a:solidFill>
                <a:srgbClr val="7030A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  <p:sp>
          <p:nvSpPr>
            <p:cNvPr id="20" name="文字方塊 21">
              <a:extLst>
                <a:ext uri="{FF2B5EF4-FFF2-40B4-BE49-F238E27FC236}">
                  <a16:creationId xmlns:a16="http://schemas.microsoft.com/office/drawing/2014/main" id="{AD6E3FB2-A6D5-4D42-A53C-2E33ABABD7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5522" y="4767568"/>
              <a:ext cx="521202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1600" b="1" dirty="0">
                  <a:solidFill>
                    <a:srgbClr val="7030A0"/>
                  </a:solidFill>
                  <a:ea typeface="PMingLiU" panose="02020500000000000000" pitchFamily="18" charset="-120"/>
                </a:rPr>
                <a:t>Income balance condition : Income = Expenditure</a:t>
              </a:r>
              <a:endParaRPr lang="zh-TW" altLang="en-US" sz="1600" b="1" dirty="0">
                <a:solidFill>
                  <a:srgbClr val="7030A0"/>
                </a:solidFill>
                <a:ea typeface="PMingLiU" panose="02020500000000000000" pitchFamily="18" charset="-120"/>
              </a:endParaRPr>
            </a:p>
          </p:txBody>
        </p:sp>
        <p:cxnSp>
          <p:nvCxnSpPr>
            <p:cNvPr id="21" name="直線單箭頭接點 20">
              <a:extLst>
                <a:ext uri="{FF2B5EF4-FFF2-40B4-BE49-F238E27FC236}">
                  <a16:creationId xmlns:a16="http://schemas.microsoft.com/office/drawing/2014/main" id="{BF9DC5FD-5A73-44A8-ADDE-A69E121362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081242" y="4517319"/>
              <a:ext cx="167212" cy="273355"/>
            </a:xfrm>
            <a:prstGeom prst="straightConnector1">
              <a:avLst/>
            </a:prstGeom>
            <a:noFill/>
            <a:ln w="9525" algn="ctr">
              <a:solidFill>
                <a:srgbClr val="7030A0"/>
              </a:solidFill>
              <a:prstDash val="dash"/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1367A21-09A7-43B7-9215-ED3605E80C56}"/>
              </a:ext>
            </a:extLst>
          </p:cNvPr>
          <p:cNvGrpSpPr/>
          <p:nvPr/>
        </p:nvGrpSpPr>
        <p:grpSpPr>
          <a:xfrm>
            <a:off x="838200" y="3852049"/>
            <a:ext cx="11030136" cy="2387243"/>
            <a:chOff x="838200" y="3852049"/>
            <a:chExt cx="11030136" cy="238724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6A3A448-3F6C-4C4C-8C06-3447B45D6B83}"/>
                </a:ext>
              </a:extLst>
            </p:cNvPr>
            <p:cNvGrpSpPr/>
            <p:nvPr/>
          </p:nvGrpSpPr>
          <p:grpSpPr>
            <a:xfrm>
              <a:off x="4260033" y="3852049"/>
              <a:ext cx="511175" cy="2022599"/>
              <a:chOff x="3430474" y="3614556"/>
              <a:chExt cx="511175" cy="2022599"/>
            </a:xfrm>
          </p:grpSpPr>
          <p:sp>
            <p:nvSpPr>
              <p:cNvPr id="7" name="矩形 4">
                <a:extLst>
                  <a:ext uri="{FF2B5EF4-FFF2-40B4-BE49-F238E27FC236}">
                    <a16:creationId xmlns:a16="http://schemas.microsoft.com/office/drawing/2014/main" id="{D303E5DF-5312-4C6E-AE9B-40B02E3336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0474" y="3614556"/>
                <a:ext cx="511175" cy="1389062"/>
              </a:xfrm>
              <a:prstGeom prst="rect">
                <a:avLst/>
              </a:prstGeom>
              <a:noFill/>
              <a:ln w="9525" algn="ctr">
                <a:solidFill>
                  <a:srgbClr val="0000FF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zh-TW" altLang="en-US">
                  <a:ea typeface="PMingLiU" panose="02020500000000000000" pitchFamily="18" charset="-120"/>
                </a:endParaRPr>
              </a:p>
            </p:txBody>
          </p:sp>
          <p:cxnSp>
            <p:nvCxnSpPr>
              <p:cNvPr id="9" name="直線單箭頭接點 13">
                <a:extLst>
                  <a:ext uri="{FF2B5EF4-FFF2-40B4-BE49-F238E27FC236}">
                    <a16:creationId xmlns:a16="http://schemas.microsoft.com/office/drawing/2014/main" id="{1BDCEB58-CE40-457F-A480-9D049B971D4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574527" y="5003618"/>
                <a:ext cx="2" cy="633537"/>
              </a:xfrm>
              <a:prstGeom prst="straightConnector1">
                <a:avLst/>
              </a:prstGeom>
              <a:noFill/>
              <a:ln w="9525" algn="ctr">
                <a:solidFill>
                  <a:srgbClr val="0000FF"/>
                </a:solidFill>
                <a:prstDash val="sysDash"/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2" name="文字方塊 11">
              <a:extLst>
                <a:ext uri="{FF2B5EF4-FFF2-40B4-BE49-F238E27FC236}">
                  <a16:creationId xmlns:a16="http://schemas.microsoft.com/office/drawing/2014/main" id="{AF3B5104-F9ED-4D8D-AECC-B0D344F97C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" y="5900738"/>
              <a:ext cx="1103013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zh-TW" sz="1600" b="1" dirty="0">
                  <a:solidFill>
                    <a:srgbClr val="0000FF"/>
                  </a:solidFill>
                  <a:ea typeface="PMingLiU" panose="02020500000000000000" pitchFamily="18" charset="-120"/>
                </a:rPr>
                <a:t>Zero-profit condition for X : MC-MR &gt;= 0 ; Q &gt;= 0 ; (MC-MR)*Q = 0 ; No need to worry about MC-MR &lt; 0 (Why?)  </a:t>
              </a:r>
              <a:endParaRPr lang="zh-TW" altLang="en-US" sz="1600" b="1" dirty="0">
                <a:solidFill>
                  <a:srgbClr val="0000FF"/>
                </a:solidFill>
                <a:ea typeface="PMingLiU" panose="02020500000000000000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2137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603C-36DF-4CB6-84E2-18D108E2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78726-162F-4D50-8A1E-662DAD4F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3B0ED-ADAF-4725-99B1-CBA84A556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677" y="1690688"/>
            <a:ext cx="9278645" cy="5029902"/>
          </a:xfrm>
          <a:prstGeom prst="rect">
            <a:avLst/>
          </a:prstGeom>
        </p:spPr>
      </p:pic>
      <p:sp>
        <p:nvSpPr>
          <p:cNvPr id="13" name="文字方塊 11">
            <a:extLst>
              <a:ext uri="{FF2B5EF4-FFF2-40B4-BE49-F238E27FC236}">
                <a16:creationId xmlns:a16="http://schemas.microsoft.com/office/drawing/2014/main" id="{B9214C28-945A-415A-ACFC-20D5CF197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982" y="1352134"/>
            <a:ext cx="51010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1600" b="1" dirty="0">
                <a:solidFill>
                  <a:srgbClr val="0000FF"/>
                </a:solidFill>
                <a:ea typeface="PMingLiU" panose="02020500000000000000" pitchFamily="18" charset="-120"/>
              </a:rPr>
              <a:t>An excerpt for M21_mcp.gms (Markusen, 2002)</a:t>
            </a:r>
            <a:endParaRPr lang="zh-TW" altLang="en-US" sz="1600" b="1" dirty="0">
              <a:solidFill>
                <a:srgbClr val="0000FF"/>
              </a:solidFill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5979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603C-36DF-4CB6-84E2-18D108E2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78726-162F-4D50-8A1E-662DAD4F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44451E-70ED-4BED-9748-250A91732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us check the Julia version: M21_mcp.jl</a:t>
            </a:r>
          </a:p>
          <a:p>
            <a:r>
              <a:rPr lang="en-US" dirty="0">
                <a:hlinkClick r:id="rId2"/>
              </a:rPr>
              <a:t>https://chenyhmitedu.github.io/docs/M21_mcp.jl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7359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603C-36DF-4CB6-84E2-18D108E2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78726-162F-4D50-8A1E-662DAD4F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10</a:t>
            </a:fld>
            <a:endParaRPr lang="en-US"/>
          </a:p>
        </p:txBody>
      </p:sp>
      <p:sp>
        <p:nvSpPr>
          <p:cNvPr id="13" name="文字方塊 11">
            <a:extLst>
              <a:ext uri="{FF2B5EF4-FFF2-40B4-BE49-F238E27FC236}">
                <a16:creationId xmlns:a16="http://schemas.microsoft.com/office/drawing/2014/main" id="{B9214C28-945A-415A-ACFC-20D5CF197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982" y="1352134"/>
            <a:ext cx="51010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1600" b="1" dirty="0">
                <a:solidFill>
                  <a:srgbClr val="0000FF"/>
                </a:solidFill>
                <a:ea typeface="PMingLiU" panose="02020500000000000000" pitchFamily="18" charset="-120"/>
              </a:rPr>
              <a:t>An excerpt for M21.gms (Markusen, 2002)</a:t>
            </a:r>
            <a:endParaRPr lang="zh-TW" altLang="en-US" sz="1600" b="1" dirty="0">
              <a:solidFill>
                <a:srgbClr val="0000FF"/>
              </a:solidFill>
              <a:ea typeface="PMingLiU" panose="02020500000000000000" pitchFamily="18" charset="-12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29B503-6D05-4A5B-BC4E-AE83D4C7B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031" y="1923966"/>
            <a:ext cx="6020640" cy="3581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478ACA-D941-434C-B994-A5B0CD171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3" y="2243098"/>
            <a:ext cx="2943636" cy="294363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04871629-069A-4A49-B6C0-AB385BB45FAB}"/>
              </a:ext>
            </a:extLst>
          </p:cNvPr>
          <p:cNvGrpSpPr/>
          <p:nvPr/>
        </p:nvGrpSpPr>
        <p:grpSpPr>
          <a:xfrm>
            <a:off x="2705493" y="1781278"/>
            <a:ext cx="6695722" cy="4405390"/>
            <a:chOff x="2705493" y="1781278"/>
            <a:chExt cx="6695722" cy="440539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90BED4A-A186-4B4D-92E9-9ADFEE4BE49E}"/>
                </a:ext>
              </a:extLst>
            </p:cNvPr>
            <p:cNvCxnSpPr/>
            <p:nvPr/>
          </p:nvCxnSpPr>
          <p:spPr>
            <a:xfrm>
              <a:off x="2705493" y="5684363"/>
              <a:ext cx="0" cy="499621"/>
            </a:xfrm>
            <a:prstGeom prst="line">
              <a:avLst/>
            </a:prstGeom>
            <a:ln w="25400">
              <a:solidFill>
                <a:schemeClr val="accent6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1D59B70-616D-49F5-9AC9-F5C0D98B84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05494" y="6183984"/>
              <a:ext cx="4930217" cy="2684"/>
            </a:xfrm>
            <a:prstGeom prst="line">
              <a:avLst/>
            </a:prstGeom>
            <a:ln w="25400">
              <a:solidFill>
                <a:schemeClr val="accent6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5F7C046-A78B-4FC7-9248-7B6437E89A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4501" y="1781666"/>
              <a:ext cx="2" cy="4402318"/>
            </a:xfrm>
            <a:prstGeom prst="line">
              <a:avLst/>
            </a:prstGeom>
            <a:ln w="25400">
              <a:solidFill>
                <a:schemeClr val="accent6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45D46BD-EA7D-467B-A31B-9DCA70A258F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34502" y="1781278"/>
              <a:ext cx="1764022" cy="388"/>
            </a:xfrm>
            <a:prstGeom prst="line">
              <a:avLst/>
            </a:prstGeom>
            <a:ln w="25400">
              <a:solidFill>
                <a:schemeClr val="accent6"/>
              </a:solidFill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4031AAE-B321-463A-A459-80FF162F5110}"/>
                </a:ext>
              </a:extLst>
            </p:cNvPr>
            <p:cNvCxnSpPr>
              <a:cxnSpLocks/>
            </p:cNvCxnSpPr>
            <p:nvPr/>
          </p:nvCxnSpPr>
          <p:spPr>
            <a:xfrm>
              <a:off x="9398524" y="1781278"/>
              <a:ext cx="2691" cy="296750"/>
            </a:xfrm>
            <a:prstGeom prst="straightConnector1">
              <a:avLst/>
            </a:prstGeom>
            <a:ln w="25400">
              <a:solidFill>
                <a:schemeClr val="accent6"/>
              </a:solidFill>
              <a:prstDash val="sys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5083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603C-36DF-4CB6-84E2-18D108E2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78726-162F-4D50-8A1E-662DAD4F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44451E-70ED-4BED-9748-250A91732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us check the Julia version: M21.jl</a:t>
            </a:r>
          </a:p>
          <a:p>
            <a:r>
              <a:rPr lang="en-US" dirty="0">
                <a:hlinkClick r:id="rId2"/>
              </a:rPr>
              <a:t>https://chenyhmitedu.github.io/docs/M21.jl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5312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603C-36DF-4CB6-84E2-18D108E2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78726-162F-4D50-8A1E-662DAD4F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44451E-70ED-4BED-9748-250A91732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two models, enhance code reusability and avoid repetition</a:t>
            </a:r>
          </a:p>
          <a:p>
            <a:endParaRPr lang="en-US" dirty="0"/>
          </a:p>
          <a:p>
            <a:pPr lvl="1"/>
            <a:r>
              <a:rPr lang="en-US" dirty="0"/>
              <a:t>Sectors are stored in vectors</a:t>
            </a:r>
          </a:p>
          <a:p>
            <a:pPr lvl="1"/>
            <a:r>
              <a:rPr lang="en-US" dirty="0"/>
              <a:t>SAM values are stored in dictionaries</a:t>
            </a:r>
          </a:p>
          <a:p>
            <a:pPr lvl="1"/>
            <a:r>
              <a:rPr lang="en-US" dirty="0"/>
              <a:t>Replace numbers in code blocks by key-specified dictionaries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1749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603C-36DF-4CB6-84E2-18D108E2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78726-162F-4D50-8A1E-662DAD4F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13</a:t>
            </a:fld>
            <a:endParaRPr lang="en-US"/>
          </a:p>
        </p:txBody>
      </p:sp>
      <p:sp>
        <p:nvSpPr>
          <p:cNvPr id="11" name="文字方塊 11">
            <a:extLst>
              <a:ext uri="{FF2B5EF4-FFF2-40B4-BE49-F238E27FC236}">
                <a16:creationId xmlns:a16="http://schemas.microsoft.com/office/drawing/2014/main" id="{7F567BFD-C311-4766-A509-80ECAA49F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982" y="1352134"/>
            <a:ext cx="510108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1600" b="1" dirty="0">
                <a:solidFill>
                  <a:srgbClr val="0000FF"/>
                </a:solidFill>
                <a:ea typeface="PMingLiU" panose="02020500000000000000" pitchFamily="18" charset="-120"/>
              </a:rPr>
              <a:t>Hint:</a:t>
            </a:r>
            <a:endParaRPr lang="zh-TW" altLang="en-US" sz="1600" b="1" dirty="0">
              <a:solidFill>
                <a:srgbClr val="0000FF"/>
              </a:solidFill>
              <a:ea typeface="PMingLiU" panose="02020500000000000000" pitchFamily="18" charset="-12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BFD9CD-EDAC-4E61-BEC0-472A5B471A70}"/>
              </a:ext>
            </a:extLst>
          </p:cNvPr>
          <p:cNvGrpSpPr/>
          <p:nvPr/>
        </p:nvGrpSpPr>
        <p:grpSpPr>
          <a:xfrm>
            <a:off x="2689845" y="1401521"/>
            <a:ext cx="7528433" cy="5220429"/>
            <a:chOff x="2585742" y="1361661"/>
            <a:chExt cx="7528433" cy="522042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C421A3A-A2B9-497F-9E49-BE66210E8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23119" y="1361661"/>
              <a:ext cx="2191056" cy="522042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F234108-87FC-4474-B7A7-CB6CDE6DB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85742" y="1361661"/>
              <a:ext cx="5125165" cy="52109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97998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603C-36DF-4CB6-84E2-18D108E2C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78726-162F-4D50-8A1E-662DAD4F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894093-91B4-4582-87A4-55E3237A3BC2}" type="slidenum">
              <a:rPr lang="en-US" smtClean="0"/>
              <a:t>14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7A7EB94-5566-425E-BB35-931E7419B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Markusen, J. (2002). General-Equilibrium Modeling using GAMS and MPS/GE: Some Basics. University of Colorado, Boulder. </a:t>
            </a:r>
            <a:r>
              <a:rPr lang="en-US" sz="1800" dirty="0">
                <a:hlinkClick r:id="rId3"/>
              </a:rPr>
              <a:t>https://www.mpsge.org/tutorial.pdf</a:t>
            </a:r>
            <a:endParaRPr lang="en-US" sz="1800" dirty="0"/>
          </a:p>
          <a:p>
            <a:r>
              <a:rPr lang="en-US" sz="1800" dirty="0"/>
              <a:t>Rutherford, T. (2002). Lecture Notes on Constant Elasticity Functions. University of Colorado, Boulder. </a:t>
            </a:r>
            <a:r>
              <a:rPr lang="en-US" sz="1800" dirty="0">
                <a:hlinkClick r:id="rId4"/>
              </a:rPr>
              <a:t>https:</a:t>
            </a:r>
            <a:br>
              <a:rPr lang="en-US" sz="1800" dirty="0">
                <a:hlinkClick r:id="rId4"/>
              </a:rPr>
            </a:br>
            <a:r>
              <a:rPr lang="en-US" sz="1800" dirty="0">
                <a:hlinkClick r:id="rId4"/>
              </a:rPr>
              <a:t>//downloads.regulations.gov/EPA-HQ-OAR-2022-0730-0088/attachment_58.pdf</a:t>
            </a:r>
            <a:r>
              <a:rPr lang="en-US" sz="1800" dirty="0"/>
              <a:t>  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18449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118174</TotalTime>
  <Words>617</Words>
  <Application>Microsoft Office PowerPoint</Application>
  <PresentationFormat>Widescreen</PresentationFormat>
  <Paragraphs>103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PMingLiU</vt:lpstr>
      <vt:lpstr>Arial</vt:lpstr>
      <vt:lpstr>Calibri</vt:lpstr>
      <vt:lpstr>Calibri Light</vt:lpstr>
      <vt:lpstr>Cambria Math</vt:lpstr>
      <vt:lpstr>Office Theme</vt:lpstr>
      <vt:lpstr>Workshop for Economic Modeling in Julia  </vt:lpstr>
      <vt:lpstr>Production technology</vt:lpstr>
      <vt:lpstr>Production technology</vt:lpstr>
      <vt:lpstr>Social Accounting Matrix</vt:lpstr>
      <vt:lpstr>Social Accounting Matrix</vt:lpstr>
      <vt:lpstr>Social Accounting Matrix</vt:lpstr>
      <vt:lpstr>Social Accounting Matrix</vt:lpstr>
      <vt:lpstr>Model</vt:lpstr>
      <vt:lpstr>Model</vt:lpstr>
      <vt:lpstr>Model</vt:lpstr>
      <vt:lpstr>Model</vt:lpstr>
      <vt:lpstr>Project</vt:lpstr>
      <vt:lpstr>Project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chenyh</dc:creator>
  <cp:lastModifiedBy>chenyh</cp:lastModifiedBy>
  <cp:revision>679</cp:revision>
  <dcterms:created xsi:type="dcterms:W3CDTF">2024-09-26T14:11:15Z</dcterms:created>
  <dcterms:modified xsi:type="dcterms:W3CDTF">2026-02-03T16:06:05Z</dcterms:modified>
</cp:coreProperties>
</file>